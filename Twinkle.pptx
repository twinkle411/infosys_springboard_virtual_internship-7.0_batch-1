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7" r:id="rId7"/>
    <p:sldId id="26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.png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.png"/><Relationship Id="rId3" Type="http://schemas.openxmlformats.org/officeDocument/2006/relationships/image" Target="../media/image26.png"/><Relationship Id="rId2" Type="http://schemas.openxmlformats.org/officeDocument/2006/relationships/image" Target="../media/image19.png"/><Relationship Id="rId1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7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/home/claude/logo.png"/>
          <p:cNvPicPr>
            <a:picLocks noChangeAspect="1"/>
          </p:cNvPicPr>
          <p:nvPr/>
        </p:nvPicPr>
        <p:blipFill>
          <a:blip r:embed="rId1"/>
          <a:srcRect r="23827" b="22809"/>
          <a:stretch>
            <a:fillRect/>
          </a:stretch>
        </p:blipFill>
        <p:spPr>
          <a:xfrm>
            <a:off x="658495" y="457835"/>
            <a:ext cx="2763520" cy="13747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393315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5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VIRTUAL INTERNSHIP 7.0</a:t>
            </a:r>
            <a:endParaRPr lang="en-US" sz="2000" b="1" kern="0" spc="150" dirty="0">
              <a:solidFill>
                <a:srgbClr val="E8622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21792" y="2697480"/>
            <a:ext cx="1024128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7030A0"/>
                </a:solidFill>
                <a:latin typeface="Cambria" panose="02040503050406030204" charset="0"/>
                <a:ea typeface="Calibri" panose="020F0502020204030204" pitchFamily="34" charset="-122"/>
                <a:cs typeface="Cambria" panose="02040503050406030204" charset="0"/>
              </a:rPr>
              <a:t>Cyber Threat Analytics Platform</a:t>
            </a:r>
            <a:endParaRPr lang="en-US" sz="4000" dirty="0">
              <a:solidFill>
                <a:srgbClr val="7030A0"/>
              </a:solidFill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7030A0"/>
                </a:solidFill>
                <a:latin typeface="Cambria" panose="02040503050406030204" charset="0"/>
                <a:ea typeface="Calibri" panose="020F0502020204030204" pitchFamily="34" charset="-122"/>
                <a:cs typeface="Cambria" panose="02040503050406030204" charset="0"/>
              </a:rPr>
              <a:t>with Incident Visualization System</a:t>
            </a:r>
            <a:endParaRPr lang="en-US" sz="4000" b="1" dirty="0">
              <a:solidFill>
                <a:srgbClr val="7030A0"/>
              </a:solidFill>
              <a:latin typeface="Cambria" panose="02040503050406030204" charset="0"/>
              <a:ea typeface="Calibri" panose="020F0502020204030204" pitchFamily="34" charset="-122"/>
              <a:cs typeface="Cambria" panose="0204050305040603020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40080" y="480060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Presented By:  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Twinkle Mohanty  |  Team D | </a:t>
            </a:r>
            <a:r>
              <a:rPr lang="en-US" altLang="en-US" sz="2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Batch – 1, Group - 1</a:t>
            </a:r>
            <a:endParaRPr lang="en-US" altLang="en-US" sz="20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40080" y="5193792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Organization: </a:t>
            </a:r>
            <a:r>
              <a:rPr lang="en-US" sz="2000" b="1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2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Infosys Springboard — Virtual Internship 7.0</a:t>
            </a:r>
            <a:endParaRPr lang="en-US" sz="20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40080" y="5586984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Mentor:  </a:t>
            </a:r>
            <a:r>
              <a:rPr lang="en-US" altLang="en-US" sz="2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Mrs. Nithyasree</a:t>
            </a:r>
            <a:endParaRPr lang="en-US" altLang="en-US" sz="20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1457432" y="6355080"/>
            <a:ext cx="365760" cy="365760"/>
          </a:xfrm>
          <a:prstGeom prst="ellipse">
            <a:avLst/>
          </a:prstGeom>
          <a:solidFill>
            <a:srgbClr val="12333F"/>
          </a:solidFill>
          <a:ln w="15875">
            <a:solidFill>
              <a:srgbClr val="4A93B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457432" y="635508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Shape 7"/>
          <p:cNvSpPr/>
          <p:nvPr/>
        </p:nvSpPr>
        <p:spPr>
          <a:xfrm flipV="1">
            <a:off x="640080" y="4466590"/>
            <a:ext cx="8518525" cy="9525"/>
          </a:xfrm>
          <a:prstGeom prst="line">
            <a:avLst/>
          </a:prstGeom>
          <a:noFill/>
          <a:ln w="31750">
            <a:solidFill>
              <a:srgbClr val="F2A93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VIRTUAL INTERNSHIP 7.0</a:t>
            </a:r>
            <a:endParaRPr lang="en-US" b="1" kern="0" spc="150" dirty="0">
              <a:solidFill>
                <a:srgbClr val="E8622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48640" y="646430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E89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OVERVIEW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48640" y="1056005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charset="0"/>
                <a:ea typeface="Calibri" panose="020F0502020204030204" pitchFamily="34" charset="-122"/>
                <a:cs typeface="Cambria" panose="02040503050406030204" charset="0"/>
              </a:rPr>
              <a:t>Project Objectives</a:t>
            </a:r>
            <a:endParaRPr lang="en-US" sz="3000" dirty="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48640" y="1947672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153A48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221992"/>
            <a:ext cx="685800" cy="685800"/>
          </a:xfrm>
          <a:prstGeom prst="ellipse">
            <a:avLst/>
          </a:prstGeom>
          <a:solidFill>
            <a:srgbClr val="4A93B8"/>
          </a:solidFill>
        </p:spPr>
      </p:sp>
      <p:pic>
        <p:nvPicPr>
          <p:cNvPr id="8" name="Image 1" descr="/home/claude/icons/FiLayer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114" y="2311146"/>
            <a:ext cx="507492" cy="5074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91640" y="2203704"/>
            <a:ext cx="3840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the Data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822960" y="2999232"/>
            <a:ext cx="470916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 cleaned features into aggregations and relationships ready for dashboarding.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172200" y="1947672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153A48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46520" y="2221992"/>
            <a:ext cx="685800" cy="685800"/>
          </a:xfrm>
          <a:prstGeom prst="ellipse">
            <a:avLst/>
          </a:prstGeom>
          <a:solidFill>
            <a:srgbClr val="4A93B8"/>
          </a:solidFill>
        </p:spPr>
      </p:sp>
      <p:pic>
        <p:nvPicPr>
          <p:cNvPr id="13" name="Image 2" descr="/home/claude/icons/FiBarCh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5674" y="2311146"/>
            <a:ext cx="507492" cy="5074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15200" y="2203704"/>
            <a:ext cx="3840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Visualize Insights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6446520" y="2999232"/>
            <a:ext cx="470916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interactive Power BI dashboards across incidents, actors, and geography.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548640" y="4416552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153A48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22960" y="4690872"/>
            <a:ext cx="685800" cy="685800"/>
          </a:xfrm>
          <a:prstGeom prst="ellipse">
            <a:avLst/>
          </a:prstGeom>
          <a:solidFill>
            <a:srgbClr val="4A93B8"/>
          </a:solidFill>
        </p:spPr>
      </p:sp>
      <p:pic>
        <p:nvPicPr>
          <p:cNvPr id="18" name="Image 3" descr="/home/claude/icons/Fi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114" y="4780026"/>
            <a:ext cx="507492" cy="5074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4672584"/>
            <a:ext cx="3840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Analyze Patterns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822960" y="5468112"/>
            <a:ext cx="470916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Uncover attack-type, motive, and country-level threat patterns in the data.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6172200" y="4416552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153A48"/>
          </a:solidFill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446520" y="4690872"/>
            <a:ext cx="685800" cy="685800"/>
          </a:xfrm>
          <a:prstGeom prst="ellipse">
            <a:avLst/>
          </a:prstGeom>
          <a:solidFill>
            <a:srgbClr val="4A93B8"/>
          </a:solidFill>
        </p:spPr>
      </p:sp>
      <p:pic>
        <p:nvPicPr>
          <p:cNvPr id="23" name="Image 4" descr="/home/claude/icons/FiFileTex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5674" y="4780026"/>
            <a:ext cx="507492" cy="50749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15200" y="4672584"/>
            <a:ext cx="3840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 Findings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6446520" y="5468112"/>
            <a:ext cx="470916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Summarize insights into an executive-ready threat analytics view.</a:t>
            </a:r>
            <a:endParaRPr lang="en-US" sz="1500" dirty="0"/>
          </a:p>
        </p:txBody>
      </p:sp>
      <p:sp>
        <p:nvSpPr>
          <p:cNvPr id="26" name="Shape 19"/>
          <p:cNvSpPr/>
          <p:nvPr/>
        </p:nvSpPr>
        <p:spPr>
          <a:xfrm>
            <a:off x="11457432" y="6355080"/>
            <a:ext cx="365760" cy="365760"/>
          </a:xfrm>
          <a:prstGeom prst="ellipse">
            <a:avLst/>
          </a:prstGeom>
          <a:solidFill>
            <a:srgbClr val="12333F"/>
          </a:solidFill>
          <a:ln w="15875">
            <a:solidFill>
              <a:srgbClr val="4A93B8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11457432" y="635508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pic>
        <p:nvPicPr>
          <p:cNvPr id="9002" name="Header Infosys Logo"/>
          <p:cNvPicPr>
            <a:picLocks noChangeAspect="1"/>
          </p:cNvPicPr>
          <p:nvPr/>
        </p:nvPicPr>
        <p:blipFill>
          <a:blip r:embed="rId5"/>
          <a:srcRect t="1800" r="14605" b="21680"/>
          <a:stretch>
            <a:fillRect/>
          </a:stretch>
        </p:blipFill>
        <p:spPr>
          <a:xfrm>
            <a:off x="10363835" y="101600"/>
            <a:ext cx="157226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5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VIRTUAL INTERNSHIP 7.0</a:t>
            </a:r>
            <a:endParaRPr lang="en-US" sz="1100" b="1" kern="0" spc="150" dirty="0">
              <a:solidFill>
                <a:srgbClr val="E8622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31520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E89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INTRODUCTION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48640" y="1124585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charset="0"/>
                <a:ea typeface="Calibri" panose="020F0502020204030204" pitchFamily="34" charset="-122"/>
                <a:cs typeface="Cambria" panose="02040503050406030204" charset="0"/>
              </a:rPr>
              <a:t>Project Description</a:t>
            </a:r>
            <a:endParaRPr lang="en-US" sz="3000" dirty="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48640" y="1764792"/>
            <a:ext cx="108813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50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project models a cleaned cybersecurity incident dataset — 10,228 records spanning 141 countries and 1971–2024 — and turns it into seven interactive Power BI dashboards that reveal attack patterns, actor behaviour, and global threat distribution at a glance.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770632"/>
            <a:ext cx="3502152" cy="1536192"/>
          </a:xfrm>
          <a:prstGeom prst="roundRect">
            <a:avLst>
              <a:gd name="adj" fmla="val 4167"/>
            </a:avLst>
          </a:prstGeom>
          <a:solidFill>
            <a:srgbClr val="153A48"/>
          </a:solidFill>
        </p:spPr>
      </p:sp>
      <p:sp>
        <p:nvSpPr>
          <p:cNvPr id="8" name="Text 5"/>
          <p:cNvSpPr/>
          <p:nvPr/>
        </p:nvSpPr>
        <p:spPr>
          <a:xfrm>
            <a:off x="749808" y="2880360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9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49808" y="3337560"/>
            <a:ext cx="309981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Collection &amp; Understanding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49808" y="3730752"/>
            <a:ext cx="30998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Sourced result.csv and profiled all 21 columns across 10,228 incident records.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33672" y="2770632"/>
            <a:ext cx="3502152" cy="1536192"/>
          </a:xfrm>
          <a:prstGeom prst="roundRect">
            <a:avLst>
              <a:gd name="adj" fmla="val 4167"/>
            </a:avLst>
          </a:prstGeom>
          <a:solidFill>
            <a:srgbClr val="153A48"/>
          </a:solidFill>
        </p:spPr>
      </p:sp>
      <p:sp>
        <p:nvSpPr>
          <p:cNvPr id="12" name="Text 9"/>
          <p:cNvSpPr/>
          <p:nvPr/>
        </p:nvSpPr>
        <p:spPr>
          <a:xfrm>
            <a:off x="4434840" y="2880360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9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434840" y="3337560"/>
            <a:ext cx="309981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Connection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434840" y="3730752"/>
            <a:ext cx="30998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Connected the cleaned dataset to Power BI and loaded it into the data model.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918704" y="2770632"/>
            <a:ext cx="3502152" cy="1536192"/>
          </a:xfrm>
          <a:prstGeom prst="roundRect">
            <a:avLst>
              <a:gd name="adj" fmla="val 4167"/>
            </a:avLst>
          </a:prstGeom>
          <a:solidFill>
            <a:srgbClr val="153A48"/>
          </a:solidFill>
        </p:spPr>
      </p:sp>
      <p:sp>
        <p:nvSpPr>
          <p:cNvPr id="16" name="Text 13"/>
          <p:cNvSpPr/>
          <p:nvPr/>
        </p:nvSpPr>
        <p:spPr>
          <a:xfrm>
            <a:off x="8119872" y="2880360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9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119872" y="3337560"/>
            <a:ext cx="309981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Preprocessing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119872" y="3730752"/>
            <a:ext cx="30998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Cleaned, encoded, and scaled fields into a model-ready dataset.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4507992"/>
            <a:ext cx="3502152" cy="1536192"/>
          </a:xfrm>
          <a:prstGeom prst="roundRect">
            <a:avLst>
              <a:gd name="adj" fmla="val 4167"/>
            </a:avLst>
          </a:prstGeom>
          <a:solidFill>
            <a:srgbClr val="153A48"/>
          </a:solidFill>
        </p:spPr>
      </p:sp>
      <p:sp>
        <p:nvSpPr>
          <p:cNvPr id="20" name="Text 17"/>
          <p:cNvSpPr/>
          <p:nvPr/>
        </p:nvSpPr>
        <p:spPr>
          <a:xfrm>
            <a:off x="749808" y="4617720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9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749808" y="5074920"/>
            <a:ext cx="309981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Modelling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749808" y="5468112"/>
            <a:ext cx="30998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Aggregated and related incident, actor, asset, and geography dimensions.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233672" y="4507992"/>
            <a:ext cx="3502152" cy="1536192"/>
          </a:xfrm>
          <a:prstGeom prst="roundRect">
            <a:avLst>
              <a:gd name="adj" fmla="val 4167"/>
            </a:avLst>
          </a:prstGeom>
          <a:solidFill>
            <a:srgbClr val="153A48"/>
          </a:solidFill>
        </p:spPr>
      </p:sp>
      <p:sp>
        <p:nvSpPr>
          <p:cNvPr id="24" name="Text 21"/>
          <p:cNvSpPr/>
          <p:nvPr/>
        </p:nvSpPr>
        <p:spPr>
          <a:xfrm>
            <a:off x="4434840" y="4617720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9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4434840" y="5074920"/>
            <a:ext cx="309981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Visualization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4434840" y="5468112"/>
            <a:ext cx="30998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7 interactive dashboards covering incidents, actors, assets, and threat patterns.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918704" y="4507992"/>
            <a:ext cx="3502152" cy="1536192"/>
          </a:xfrm>
          <a:prstGeom prst="roundRect">
            <a:avLst>
              <a:gd name="adj" fmla="val 4167"/>
            </a:avLst>
          </a:prstGeom>
          <a:solidFill>
            <a:srgbClr val="153A48"/>
          </a:solidFill>
        </p:spPr>
      </p:sp>
      <p:sp>
        <p:nvSpPr>
          <p:cNvPr id="28" name="Text 25"/>
          <p:cNvSpPr/>
          <p:nvPr/>
        </p:nvSpPr>
        <p:spPr>
          <a:xfrm>
            <a:off x="8119872" y="4617720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9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8119872" y="5074920"/>
            <a:ext cx="3099816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Insights &amp; Reporting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8119872" y="5468112"/>
            <a:ext cx="3099816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Synthesized cross-dashboard findings into an executive-ready threat view.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11457432" y="6355080"/>
            <a:ext cx="365760" cy="365760"/>
          </a:xfrm>
          <a:prstGeom prst="ellipse">
            <a:avLst/>
          </a:prstGeom>
          <a:solidFill>
            <a:srgbClr val="12333F"/>
          </a:solidFill>
          <a:ln w="15875">
            <a:solidFill>
              <a:srgbClr val="4A93B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1457432" y="635508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  <p:pic>
        <p:nvPicPr>
          <p:cNvPr id="9002" name="Header Infosys Logo"/>
          <p:cNvPicPr>
            <a:picLocks noChangeAspect="1"/>
          </p:cNvPicPr>
          <p:nvPr/>
        </p:nvPicPr>
        <p:blipFill>
          <a:blip r:embed="rId1"/>
          <a:srcRect t="1800" r="14605" b="21680"/>
          <a:stretch>
            <a:fillRect/>
          </a:stretch>
        </p:blipFill>
        <p:spPr>
          <a:xfrm>
            <a:off x="10363835" y="101600"/>
            <a:ext cx="157226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621665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E89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charset="0"/>
                <a:ea typeface="Calibri" panose="020F0502020204030204" pitchFamily="34" charset="-122"/>
                <a:cs typeface="Cambria" panose="02040503050406030204" charset="0"/>
              </a:rPr>
              <a:t>Workflow Diagram</a:t>
            </a:r>
            <a:endParaRPr lang="en-US" sz="3000" dirty="0">
              <a:latin typeface="Cambria" panose="02040503050406030204" charset="0"/>
              <a:cs typeface="Cambria" panose="02040503050406030204" charset="0"/>
            </a:endParaRPr>
          </a:p>
        </p:txBody>
      </p:sp>
      <p:pic>
        <p:nvPicPr>
          <p:cNvPr id="6" name="Image 1" descr="/home/claude/workflo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728" y="1657086"/>
            <a:ext cx="11064240" cy="4778267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1457432" y="6355080"/>
            <a:ext cx="365760" cy="365760"/>
          </a:xfrm>
          <a:prstGeom prst="ellipse">
            <a:avLst/>
          </a:prstGeom>
          <a:solidFill>
            <a:srgbClr val="12333F"/>
          </a:solidFill>
          <a:ln w="15875">
            <a:solidFill>
              <a:srgbClr val="4A93B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457432" y="635508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200" dirty="0"/>
          </a:p>
        </p:txBody>
      </p:sp>
      <p:sp>
        <p:nvSpPr>
          <p:cNvPr id="9" name="Text Box 8"/>
          <p:cNvSpPr txBox="1"/>
          <p:nvPr/>
        </p:nvSpPr>
        <p:spPr>
          <a:xfrm>
            <a:off x="563880" y="146050"/>
            <a:ext cx="6096000" cy="537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b="1" kern="0" spc="15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VIRTUAL INTERNSHIP 7.0</a:t>
            </a:r>
            <a:endParaRPr lang="en-US" sz="1100" b="1" kern="0" spc="150" dirty="0">
              <a:solidFill>
                <a:srgbClr val="E8622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indent="0">
              <a:buNone/>
            </a:pPr>
            <a:endParaRPr lang="en-US" sz="1100" b="1" kern="0" spc="150" dirty="0">
              <a:solidFill>
                <a:srgbClr val="E8622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pic>
        <p:nvPicPr>
          <p:cNvPr id="9002" name="Header Infosys Logo"/>
          <p:cNvPicPr>
            <a:picLocks noChangeAspect="1"/>
          </p:cNvPicPr>
          <p:nvPr/>
        </p:nvPicPr>
        <p:blipFill>
          <a:blip r:embed="rId2"/>
          <a:srcRect t="1800" r="14605" b="21680"/>
          <a:stretch>
            <a:fillRect/>
          </a:stretch>
        </p:blipFill>
        <p:spPr>
          <a:xfrm>
            <a:off x="10363835" y="101600"/>
            <a:ext cx="157226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530225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E89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2635758" cy="2148840"/>
          </a:xfrm>
          <a:prstGeom prst="roundRect">
            <a:avLst>
              <a:gd name="adj" fmla="val 2553"/>
            </a:avLst>
          </a:prstGeom>
          <a:solidFill>
            <a:srgbClr val="153A48"/>
          </a:solidFill>
        </p:spPr>
      </p:sp>
      <p:pic>
        <p:nvPicPr>
          <p:cNvPr id="7" name="Image 1" descr="/home/claude/dashboards/dash_22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12648" y="1755648"/>
            <a:ext cx="2507742" cy="107899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12648" y="1755648"/>
            <a:ext cx="2507742" cy="1078992"/>
          </a:xfrm>
          <a:prstGeom prst="rect">
            <a:avLst/>
          </a:prstGeom>
          <a:ln w="9525">
            <a:solidFill>
              <a:srgbClr val="2C5464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40080" y="2889504"/>
            <a:ext cx="2452878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 Executive Summary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40080" y="3099816"/>
            <a:ext cx="245287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870"/>
              </a:lnSpc>
              <a:buNone/>
            </a:pPr>
            <a:r>
              <a:rPr lang="en-US" sz="10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Top-line KPIs, attack trend by year, and global threat distribution at a glance</a:t>
            </a:r>
            <a:r>
              <a:rPr lang="en-US" sz="73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730" dirty="0"/>
          </a:p>
        </p:txBody>
      </p:sp>
      <p:sp>
        <p:nvSpPr>
          <p:cNvPr id="11" name="Text 7"/>
          <p:cNvSpPr/>
          <p:nvPr/>
        </p:nvSpPr>
        <p:spPr>
          <a:xfrm>
            <a:off x="640080" y="3547872"/>
            <a:ext cx="245287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850"/>
              </a:lnSpc>
              <a:buNone/>
            </a:pPr>
            <a:r>
              <a:rPr lang="en-US" sz="1000" b="1" dirty="0">
                <a:solidFill>
                  <a:srgbClr val="4A9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r>
              <a:rPr lang="en-US" sz="1000" b="1" dirty="0">
                <a:solidFill>
                  <a:srgbClr val="4A9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omponents:  </a:t>
            </a:r>
            <a:r>
              <a:rPr lang="en-US" sz="100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KPI cards, line chart, pie chart, map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367278" y="1691640"/>
            <a:ext cx="2635758" cy="2148840"/>
          </a:xfrm>
          <a:prstGeom prst="roundRect">
            <a:avLst>
              <a:gd name="adj" fmla="val 2553"/>
            </a:avLst>
          </a:prstGeom>
          <a:solidFill>
            <a:srgbClr val="153A48"/>
          </a:solidFill>
        </p:spPr>
      </p:sp>
      <p:pic>
        <p:nvPicPr>
          <p:cNvPr id="13" name="Image 2" descr="/home/claude/dashboards/dash_23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431286" y="1755648"/>
            <a:ext cx="2507742" cy="107899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431286" y="1755648"/>
            <a:ext cx="2507742" cy="1078992"/>
          </a:xfrm>
          <a:prstGeom prst="rect">
            <a:avLst/>
          </a:prstGeom>
          <a:ln w="9525">
            <a:solidFill>
              <a:srgbClr val="2C5464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3458718" y="2889504"/>
            <a:ext cx="2452878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 Threat Analysis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3458718" y="3099816"/>
            <a:ext cx="245287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870"/>
              </a:lnSpc>
              <a:buNone/>
            </a:pPr>
            <a:r>
              <a:rPr lang="en-US" sz="10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Breaks incidents down by actor type, attack detail, and motive.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3458718" y="3547872"/>
            <a:ext cx="245287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850"/>
              </a:lnSpc>
              <a:buNone/>
            </a:pPr>
            <a:r>
              <a:rPr lang="en-US" sz="1000" b="1" dirty="0">
                <a:solidFill>
                  <a:srgbClr val="4A9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Components:  </a:t>
            </a:r>
            <a:r>
              <a:rPr lang="en-US" sz="100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Cards, bar chart, slicer, matrix table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185916" y="1691640"/>
            <a:ext cx="2635758" cy="2148840"/>
          </a:xfrm>
          <a:prstGeom prst="roundRect">
            <a:avLst>
              <a:gd name="adj" fmla="val 2553"/>
            </a:avLst>
          </a:prstGeom>
          <a:solidFill>
            <a:srgbClr val="153A48"/>
          </a:solidFill>
        </p:spPr>
        <p:txBody>
          <a:bodyPr/>
          <a:p>
            <a:endParaRPr lang="en-US"/>
          </a:p>
        </p:txBody>
      </p:sp>
      <p:pic>
        <p:nvPicPr>
          <p:cNvPr id="19" name="Image 3" descr="/home/claude/dashboards/dash_24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249924" y="1755648"/>
            <a:ext cx="2507742" cy="107899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249924" y="1755648"/>
            <a:ext cx="2507742" cy="1078992"/>
          </a:xfrm>
          <a:prstGeom prst="rect">
            <a:avLst/>
          </a:prstGeom>
          <a:ln w="9525">
            <a:solidFill>
              <a:srgbClr val="2C5464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277356" y="2889504"/>
            <a:ext cx="2452878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 Attacker &amp; Actor Intelligence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6277356" y="3099816"/>
            <a:ext cx="245287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870"/>
              </a:lnSpc>
              <a:buNone/>
            </a:pPr>
            <a:r>
              <a:rPr lang="en-US" sz="10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Profiles who initiates incidents — actor type, origin country, and trend.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6277356" y="3547872"/>
            <a:ext cx="245287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850"/>
              </a:lnSpc>
              <a:buNone/>
            </a:pPr>
            <a:r>
              <a:rPr lang="en-US" sz="1000" b="1" dirty="0">
                <a:solidFill>
                  <a:srgbClr val="4A9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Components:  </a:t>
            </a:r>
            <a:r>
              <a:rPr lang="en-US" sz="100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 chart, treemap, table, map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9004554" y="1691640"/>
            <a:ext cx="2635758" cy="2148840"/>
          </a:xfrm>
          <a:prstGeom prst="roundRect">
            <a:avLst>
              <a:gd name="adj" fmla="val 2553"/>
            </a:avLst>
          </a:prstGeom>
          <a:solidFill>
            <a:srgbClr val="153A48"/>
          </a:solidFill>
        </p:spPr>
        <p:txBody>
          <a:bodyPr/>
          <a:p>
            <a:endParaRPr lang="en-US"/>
          </a:p>
        </p:txBody>
      </p:sp>
      <p:pic>
        <p:nvPicPr>
          <p:cNvPr id="25" name="Image 4" descr="/home/claude/dashboards/dash_25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068562" y="1755648"/>
            <a:ext cx="2507742" cy="1078992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9068562" y="1755648"/>
            <a:ext cx="2507742" cy="1078992"/>
          </a:xfrm>
          <a:prstGeom prst="rect">
            <a:avLst/>
          </a:prstGeom>
          <a:ln w="9525">
            <a:solidFill>
              <a:srgbClr val="2C5464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9095994" y="2889504"/>
            <a:ext cx="2452878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 Asset Vulnerability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9095994" y="3099816"/>
            <a:ext cx="245287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870"/>
              </a:lnSpc>
              <a:buNone/>
            </a:pPr>
            <a:r>
              <a:rPr lang="en-US" sz="10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Identifies the most targeted assets, attack types, and country exposure.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9095994" y="3547872"/>
            <a:ext cx="245287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850"/>
              </a:lnSpc>
              <a:buNone/>
            </a:pPr>
            <a:r>
              <a:rPr lang="en-US" sz="1000" b="1" dirty="0">
                <a:solidFill>
                  <a:srgbClr val="4A9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Components:  </a:t>
            </a:r>
            <a:r>
              <a:rPr lang="en-US" sz="100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Slicers, line chart, matrix, bar chart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1401445" y="3986530"/>
            <a:ext cx="3192145" cy="2369185"/>
          </a:xfrm>
          <a:prstGeom prst="roundRect">
            <a:avLst>
              <a:gd name="adj" fmla="val 2553"/>
            </a:avLst>
          </a:prstGeom>
          <a:solidFill>
            <a:srgbClr val="153A48"/>
          </a:solidFill>
        </p:spPr>
      </p:sp>
      <p:pic>
        <p:nvPicPr>
          <p:cNvPr id="31" name="Image 5" descr="/home/claude/dashboards/dash_26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414145" y="4050665"/>
            <a:ext cx="3115310" cy="1078865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2021967" y="4050792"/>
            <a:ext cx="2507742" cy="1078992"/>
          </a:xfrm>
          <a:prstGeom prst="rect">
            <a:avLst/>
          </a:prstGeom>
          <a:ln w="9525">
            <a:solidFill>
              <a:srgbClr val="2C5464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1670050" y="5184775"/>
            <a:ext cx="2832100" cy="2197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 Incident Severity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588389" y="5495925"/>
            <a:ext cx="245287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870"/>
              </a:lnSpc>
              <a:buNone/>
            </a:pPr>
            <a:r>
              <a:rPr lang="en-US" sz="10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Measures impact — asset share, YoY growth, and most targeted asset types</a:t>
            </a:r>
            <a:r>
              <a:rPr lang="en-US" sz="73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730" dirty="0"/>
          </a:p>
        </p:txBody>
      </p:sp>
      <p:sp>
        <p:nvSpPr>
          <p:cNvPr id="35" name="Text 27"/>
          <p:cNvSpPr/>
          <p:nvPr/>
        </p:nvSpPr>
        <p:spPr>
          <a:xfrm>
            <a:off x="1670050" y="5935345"/>
            <a:ext cx="2509520" cy="2959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850"/>
              </a:lnSpc>
              <a:buNone/>
            </a:pPr>
            <a:r>
              <a:rPr lang="en-US" sz="1000" b="1" dirty="0">
                <a:solidFill>
                  <a:srgbClr val="4A9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Components:  </a:t>
            </a:r>
            <a:r>
              <a:rPr lang="en-US" sz="100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 charts, treemap, table, line chart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4776470" y="3986530"/>
            <a:ext cx="3177540" cy="2369185"/>
          </a:xfrm>
          <a:prstGeom prst="roundRect">
            <a:avLst>
              <a:gd name="adj" fmla="val 2553"/>
            </a:avLst>
          </a:prstGeom>
          <a:solidFill>
            <a:srgbClr val="153A48"/>
          </a:solidFill>
        </p:spPr>
      </p:sp>
      <p:pic>
        <p:nvPicPr>
          <p:cNvPr id="37" name="Image 6" descr="/home/claude/dashboards/dash_27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4840605" y="4050665"/>
            <a:ext cx="3113405" cy="1078865"/>
          </a:xfrm>
          <a:prstGeom prst="rect">
            <a:avLst/>
          </a:prstGeom>
        </p:spPr>
      </p:pic>
      <p:sp>
        <p:nvSpPr>
          <p:cNvPr id="38" name="Shape 29"/>
          <p:cNvSpPr/>
          <p:nvPr/>
        </p:nvSpPr>
        <p:spPr>
          <a:xfrm>
            <a:off x="4840605" y="4050792"/>
            <a:ext cx="2507742" cy="1078992"/>
          </a:xfrm>
          <a:prstGeom prst="rect">
            <a:avLst/>
          </a:prstGeom>
          <a:ln w="9525">
            <a:solidFill>
              <a:srgbClr val="2C5464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4868037" y="5184648"/>
            <a:ext cx="2452878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  Threat Pattern Deep Dive</a:t>
            </a:r>
            <a:endParaRPr lang="en-US" sz="1000" dirty="0"/>
          </a:p>
        </p:txBody>
      </p:sp>
      <p:sp>
        <p:nvSpPr>
          <p:cNvPr id="40" name="Text 31"/>
          <p:cNvSpPr/>
          <p:nvPr/>
        </p:nvSpPr>
        <p:spPr>
          <a:xfrm>
            <a:off x="4868037" y="5394960"/>
            <a:ext cx="245287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870"/>
              </a:lnSpc>
              <a:buNone/>
            </a:pPr>
            <a:r>
              <a:rPr lang="en-US" sz="10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Uncovers hidden patterns across attack methods, motive, and origins.</a:t>
            </a:r>
            <a:endParaRPr lang="en-US" sz="1000" dirty="0"/>
          </a:p>
        </p:txBody>
      </p:sp>
      <p:sp>
        <p:nvSpPr>
          <p:cNvPr id="41" name="Text 32"/>
          <p:cNvSpPr/>
          <p:nvPr/>
        </p:nvSpPr>
        <p:spPr>
          <a:xfrm>
            <a:off x="4868037" y="5843016"/>
            <a:ext cx="245287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850"/>
              </a:lnSpc>
              <a:buNone/>
            </a:pPr>
            <a:r>
              <a:rPr lang="en-US" sz="1000" b="1" dirty="0">
                <a:solidFill>
                  <a:srgbClr val="4A9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Components:  </a:t>
            </a:r>
            <a:r>
              <a:rPr lang="en-US" sz="100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Cards, line chart, histogram, slicers</a:t>
            </a:r>
            <a:endParaRPr lang="en-US" sz="1000" dirty="0"/>
          </a:p>
        </p:txBody>
      </p:sp>
      <p:sp>
        <p:nvSpPr>
          <p:cNvPr id="42" name="Shape 33"/>
          <p:cNvSpPr/>
          <p:nvPr/>
        </p:nvSpPr>
        <p:spPr>
          <a:xfrm>
            <a:off x="8199120" y="3986530"/>
            <a:ext cx="3459480" cy="2362200"/>
          </a:xfrm>
          <a:prstGeom prst="roundRect">
            <a:avLst>
              <a:gd name="adj" fmla="val 2553"/>
            </a:avLst>
          </a:prstGeom>
          <a:solidFill>
            <a:srgbClr val="153A48"/>
          </a:solidFill>
        </p:spPr>
      </p:sp>
      <p:pic>
        <p:nvPicPr>
          <p:cNvPr id="43" name="Image 7" descr="/home/claude/dashboards/dash_28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8225790" y="3986530"/>
            <a:ext cx="3415030" cy="1078865"/>
          </a:xfrm>
          <a:prstGeom prst="rect">
            <a:avLst/>
          </a:prstGeom>
        </p:spPr>
      </p:pic>
      <p:sp>
        <p:nvSpPr>
          <p:cNvPr id="44" name="Shape 34"/>
          <p:cNvSpPr/>
          <p:nvPr/>
        </p:nvSpPr>
        <p:spPr>
          <a:xfrm>
            <a:off x="8255635" y="3986530"/>
            <a:ext cx="3355340" cy="1078865"/>
          </a:xfrm>
          <a:prstGeom prst="rect">
            <a:avLst/>
          </a:prstGeom>
          <a:ln w="9525">
            <a:solidFill>
              <a:srgbClr val="2C5464"/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8402955" y="5129403"/>
            <a:ext cx="2452878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  Attack Pattern Analysis</a:t>
            </a:r>
            <a:endParaRPr lang="en-US" sz="1000" dirty="0"/>
          </a:p>
        </p:txBody>
      </p:sp>
      <p:sp>
        <p:nvSpPr>
          <p:cNvPr id="46" name="Text 36"/>
          <p:cNvSpPr/>
          <p:nvPr/>
        </p:nvSpPr>
        <p:spPr>
          <a:xfrm>
            <a:off x="8484870" y="5403850"/>
            <a:ext cx="2452878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870"/>
              </a:lnSpc>
              <a:buNone/>
            </a:pPr>
            <a:r>
              <a:rPr lang="en-US" sz="10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Temporal and behavioural view of global incidents, 1971–2024.</a:t>
            </a:r>
            <a:endParaRPr lang="en-US" sz="1000" dirty="0"/>
          </a:p>
        </p:txBody>
      </p:sp>
      <p:sp>
        <p:nvSpPr>
          <p:cNvPr id="47" name="Text 37"/>
          <p:cNvSpPr/>
          <p:nvPr/>
        </p:nvSpPr>
        <p:spPr>
          <a:xfrm>
            <a:off x="8556625" y="5843016"/>
            <a:ext cx="245287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850"/>
              </a:lnSpc>
              <a:buNone/>
            </a:pPr>
            <a:r>
              <a:rPr lang="en-US" sz="1000" b="1" dirty="0">
                <a:solidFill>
                  <a:srgbClr val="4A9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Components:  </a:t>
            </a:r>
            <a:r>
              <a:rPr lang="en-US" sz="100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Cards, stacked bar, line &amp; bar charts</a:t>
            </a:r>
            <a:endParaRPr lang="en-US" sz="1000" dirty="0"/>
          </a:p>
        </p:txBody>
      </p:sp>
      <p:sp>
        <p:nvSpPr>
          <p:cNvPr id="48" name="Shape 38"/>
          <p:cNvSpPr/>
          <p:nvPr/>
        </p:nvSpPr>
        <p:spPr>
          <a:xfrm>
            <a:off x="11457432" y="6355080"/>
            <a:ext cx="365760" cy="365760"/>
          </a:xfrm>
          <a:prstGeom prst="ellipse">
            <a:avLst/>
          </a:prstGeom>
          <a:solidFill>
            <a:srgbClr val="12333F"/>
          </a:solidFill>
          <a:ln w="15875">
            <a:solidFill>
              <a:srgbClr val="4A93B8"/>
            </a:solidFill>
            <a:prstDash val="solid"/>
          </a:ln>
        </p:spPr>
      </p:sp>
      <p:sp>
        <p:nvSpPr>
          <p:cNvPr id="49" name="Text 39"/>
          <p:cNvSpPr/>
          <p:nvPr/>
        </p:nvSpPr>
        <p:spPr>
          <a:xfrm>
            <a:off x="11457432" y="635508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200" dirty="0"/>
          </a:p>
        </p:txBody>
      </p:sp>
      <p:sp>
        <p:nvSpPr>
          <p:cNvPr id="50" name="Text Box 49"/>
          <p:cNvSpPr txBox="1"/>
          <p:nvPr/>
        </p:nvSpPr>
        <p:spPr>
          <a:xfrm>
            <a:off x="548640" y="7175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b="1" kern="0" spc="15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VIRTUAL INTERNSHIP 7.0</a:t>
            </a:r>
            <a:endParaRPr lang="en-US" b="1" kern="0" spc="150" dirty="0">
              <a:solidFill>
                <a:srgbClr val="E8622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51" name="Text Box 50"/>
          <p:cNvSpPr txBox="1"/>
          <p:nvPr/>
        </p:nvSpPr>
        <p:spPr>
          <a:xfrm>
            <a:off x="640080" y="920750"/>
            <a:ext cx="60960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3000" b="1" dirty="0">
                <a:solidFill>
                  <a:srgbClr val="FFFFFF"/>
                </a:solidFill>
                <a:latin typeface="Cambria" panose="02040503050406030204" charset="0"/>
                <a:ea typeface="Calibri" panose="020F0502020204030204" pitchFamily="34" charset="-122"/>
                <a:cs typeface="Cambria" panose="02040503050406030204" charset="0"/>
                <a:sym typeface="+mn-ea"/>
              </a:rPr>
              <a:t>Data Visualization</a:t>
            </a:r>
            <a:endParaRPr lang="en-US" sz="3000" b="1" dirty="0">
              <a:solidFill>
                <a:srgbClr val="FFFFFF"/>
              </a:solidFill>
              <a:latin typeface="Cambria" panose="02040503050406030204" charset="0"/>
              <a:ea typeface="Calibri" panose="020F0502020204030204" pitchFamily="34" charset="-122"/>
              <a:cs typeface="Cambria" panose="02040503050406030204" charset="0"/>
              <a:sym typeface="+mn-ea"/>
            </a:endParaRPr>
          </a:p>
        </p:txBody>
      </p:sp>
      <p:pic>
        <p:nvPicPr>
          <p:cNvPr id="9002" name="Header Infosys Logo"/>
          <p:cNvPicPr>
            <a:picLocks noChangeAspect="1"/>
          </p:cNvPicPr>
          <p:nvPr/>
        </p:nvPicPr>
        <p:blipFill>
          <a:blip r:embed="rId8"/>
          <a:srcRect t="1800" r="14605" b="21680"/>
          <a:stretch>
            <a:fillRect/>
          </a:stretch>
        </p:blipFill>
        <p:spPr>
          <a:xfrm>
            <a:off x="10363835" y="101600"/>
            <a:ext cx="157226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31520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E89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ROADMAP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charset="0"/>
                <a:ea typeface="Calibri" panose="020F0502020204030204" pitchFamily="34" charset="-122"/>
                <a:cs typeface="Cambria" panose="02040503050406030204" charset="0"/>
              </a:rPr>
              <a:t>Project Execution Milestones</a:t>
            </a:r>
            <a:endParaRPr lang="en-US" sz="3000" dirty="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48640" y="1764792"/>
            <a:ext cx="10881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project was executed through 4 structured milestones to ensure systematic progress and accuracy.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221992"/>
            <a:ext cx="10881360" cy="457200"/>
          </a:xfrm>
          <a:prstGeom prst="roundRect">
            <a:avLst>
              <a:gd name="adj" fmla="val 12000"/>
            </a:avLst>
          </a:prstGeom>
          <a:solidFill>
            <a:srgbClr val="12333F"/>
          </a:solidFill>
          <a:ln w="12700">
            <a:solidFill>
              <a:srgbClr val="2C546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2221992"/>
            <a:ext cx="10424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9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/ Source Used:  </a:t>
            </a:r>
            <a:r>
              <a:rPr lang="en-US" sz="125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result.csv  →  preprocessing_report.xlsx  →  Power BI Dashboards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92608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153A48"/>
          </a:solidFill>
        </p:spPr>
      </p:sp>
      <p:sp>
        <p:nvSpPr>
          <p:cNvPr id="10" name="Shape 7"/>
          <p:cNvSpPr/>
          <p:nvPr/>
        </p:nvSpPr>
        <p:spPr>
          <a:xfrm>
            <a:off x="777240" y="3154680"/>
            <a:ext cx="548640" cy="548640"/>
          </a:xfrm>
          <a:prstGeom prst="ellipse">
            <a:avLst/>
          </a:prstGeom>
          <a:solidFill>
            <a:srgbClr val="E8934A"/>
          </a:solidFill>
        </p:spPr>
      </p:sp>
      <p:sp>
        <p:nvSpPr>
          <p:cNvPr id="11" name="Text 8"/>
          <p:cNvSpPr/>
          <p:nvPr/>
        </p:nvSpPr>
        <p:spPr>
          <a:xfrm>
            <a:off x="777240" y="315468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2A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77240" y="3886200"/>
            <a:ext cx="21488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Understanding &amp; Preprocessing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77240" y="4892040"/>
            <a:ext cx="214884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Loaded and profiled 10,228 records; cleaned, encoded, and scaled every field.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355848" y="292608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153A48"/>
          </a:solidFill>
        </p:spPr>
      </p:sp>
      <p:sp>
        <p:nvSpPr>
          <p:cNvPr id="15" name="Shape 12"/>
          <p:cNvSpPr/>
          <p:nvPr/>
        </p:nvSpPr>
        <p:spPr>
          <a:xfrm>
            <a:off x="3584448" y="3154680"/>
            <a:ext cx="548640" cy="548640"/>
          </a:xfrm>
          <a:prstGeom prst="ellipse">
            <a:avLst/>
          </a:prstGeom>
          <a:solidFill>
            <a:srgbClr val="E8934A"/>
          </a:solidFill>
        </p:spPr>
      </p:sp>
      <p:sp>
        <p:nvSpPr>
          <p:cNvPr id="16" name="Text 13"/>
          <p:cNvSpPr/>
          <p:nvPr/>
        </p:nvSpPr>
        <p:spPr>
          <a:xfrm>
            <a:off x="3584448" y="315468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2A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3584448" y="3886200"/>
            <a:ext cx="21488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Connection &amp; Modelling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3584448" y="4892040"/>
            <a:ext cx="214884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Connected the cleaned dataset to Power BI and built an aggregated relational model.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163056" y="292608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153A48"/>
          </a:solidFill>
        </p:spPr>
      </p:sp>
      <p:sp>
        <p:nvSpPr>
          <p:cNvPr id="20" name="Shape 17"/>
          <p:cNvSpPr/>
          <p:nvPr/>
        </p:nvSpPr>
        <p:spPr>
          <a:xfrm>
            <a:off x="6391656" y="3154680"/>
            <a:ext cx="548640" cy="548640"/>
          </a:xfrm>
          <a:prstGeom prst="ellipse">
            <a:avLst/>
          </a:prstGeom>
          <a:solidFill>
            <a:srgbClr val="E8934A"/>
          </a:solidFill>
        </p:spPr>
      </p:sp>
      <p:sp>
        <p:nvSpPr>
          <p:cNvPr id="21" name="Text 18"/>
          <p:cNvSpPr/>
          <p:nvPr/>
        </p:nvSpPr>
        <p:spPr>
          <a:xfrm>
            <a:off x="6391656" y="315468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2A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391656" y="3886200"/>
            <a:ext cx="21488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Development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6391656" y="4892040"/>
            <a:ext cx="214884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Designed 7 interactive dashboards covering incidents, actors, assets, and geography.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970264" y="292608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153A48"/>
          </a:solidFill>
        </p:spPr>
      </p:sp>
      <p:sp>
        <p:nvSpPr>
          <p:cNvPr id="25" name="Shape 22"/>
          <p:cNvSpPr/>
          <p:nvPr/>
        </p:nvSpPr>
        <p:spPr>
          <a:xfrm>
            <a:off x="9198864" y="3154680"/>
            <a:ext cx="548640" cy="548640"/>
          </a:xfrm>
          <a:prstGeom prst="ellipse">
            <a:avLst/>
          </a:prstGeom>
          <a:solidFill>
            <a:srgbClr val="E8934A"/>
          </a:solidFill>
        </p:spPr>
      </p:sp>
      <p:sp>
        <p:nvSpPr>
          <p:cNvPr id="26" name="Text 23"/>
          <p:cNvSpPr/>
          <p:nvPr/>
        </p:nvSpPr>
        <p:spPr>
          <a:xfrm>
            <a:off x="9198864" y="3154680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2A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9198864" y="3886200"/>
            <a:ext cx="214884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Insight Generation &amp; Reporting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9198864" y="4892040"/>
            <a:ext cx="214884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Synthesized cross-dashboard findings into key insights and an executive summary.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108960" y="3182112"/>
            <a:ext cx="292608" cy="292608"/>
          </a:xfrm>
          <a:prstGeom prst="ellipse">
            <a:avLst/>
          </a:prstGeom>
          <a:solidFill>
            <a:srgbClr val="0E2A36"/>
          </a:solidFill>
          <a:ln w="19050">
            <a:solidFill>
              <a:srgbClr val="4A93B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108960" y="3163824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9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5916168" y="3182112"/>
            <a:ext cx="292608" cy="292608"/>
          </a:xfrm>
          <a:prstGeom prst="ellipse">
            <a:avLst/>
          </a:prstGeom>
          <a:solidFill>
            <a:srgbClr val="0E2A36"/>
          </a:solidFill>
          <a:ln w="19050">
            <a:solidFill>
              <a:srgbClr val="4A93B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916168" y="3163824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9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8723376" y="3182112"/>
            <a:ext cx="292608" cy="292608"/>
          </a:xfrm>
          <a:prstGeom prst="ellipse">
            <a:avLst/>
          </a:prstGeom>
          <a:solidFill>
            <a:srgbClr val="0E2A36"/>
          </a:solidFill>
          <a:ln w="19050">
            <a:solidFill>
              <a:srgbClr val="4A93B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723376" y="3163824"/>
            <a:ext cx="292608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9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11457432" y="6355080"/>
            <a:ext cx="365760" cy="365760"/>
          </a:xfrm>
          <a:prstGeom prst="ellipse">
            <a:avLst/>
          </a:prstGeom>
          <a:solidFill>
            <a:srgbClr val="12333F"/>
          </a:solidFill>
          <a:ln w="15875">
            <a:solidFill>
              <a:srgbClr val="4A93B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1457432" y="635508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200" dirty="0"/>
          </a:p>
        </p:txBody>
      </p:sp>
      <p:pic>
        <p:nvPicPr>
          <p:cNvPr id="9002" name="Header Infosys Logo"/>
          <p:cNvPicPr>
            <a:picLocks noChangeAspect="1"/>
          </p:cNvPicPr>
          <p:nvPr/>
        </p:nvPicPr>
        <p:blipFill>
          <a:blip r:embed="rId1"/>
          <a:srcRect t="1800" r="14605" b="21680"/>
          <a:stretch>
            <a:fillRect/>
          </a:stretch>
        </p:blipFill>
        <p:spPr>
          <a:xfrm>
            <a:off x="10363835" y="101600"/>
            <a:ext cx="1572260" cy="6477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548640" y="16192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b="1" kern="0" spc="15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VIRTUAL INTERNSHIP 7.0</a:t>
            </a:r>
            <a:endParaRPr lang="en-US" b="1" kern="0" spc="150" dirty="0">
              <a:solidFill>
                <a:srgbClr val="E8622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48640" y="731520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E89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SOLVING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charset="0"/>
                <a:ea typeface="Calibri" panose="020F0502020204030204" pitchFamily="34" charset="-122"/>
                <a:cs typeface="Cambria" panose="02040503050406030204" charset="0"/>
              </a:rPr>
              <a:t>Challenges Faced and Resolutions</a:t>
            </a:r>
            <a:endParaRPr lang="en-US" sz="3000" dirty="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3502152" cy="4434840"/>
          </a:xfrm>
          <a:prstGeom prst="roundRect">
            <a:avLst>
              <a:gd name="adj" fmla="val 2089"/>
            </a:avLst>
          </a:prstGeom>
          <a:solidFill>
            <a:srgbClr val="153A48"/>
          </a:solidFill>
        </p:spPr>
      </p:sp>
      <p:sp>
        <p:nvSpPr>
          <p:cNvPr id="7" name="Shape 4"/>
          <p:cNvSpPr/>
          <p:nvPr/>
        </p:nvSpPr>
        <p:spPr>
          <a:xfrm>
            <a:off x="804672" y="2039112"/>
            <a:ext cx="566928" cy="566928"/>
          </a:xfrm>
          <a:prstGeom prst="ellipse">
            <a:avLst/>
          </a:prstGeom>
          <a:solidFill>
            <a:srgbClr val="E8934A"/>
          </a:solidFill>
        </p:spPr>
      </p:sp>
      <p:pic>
        <p:nvPicPr>
          <p:cNvPr id="8" name="Image 1" descr="/home/claude/icons/FiShuff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373" y="2112813"/>
            <a:ext cx="419527" cy="41952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2057400"/>
            <a:ext cx="231343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9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 1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1508760" y="2286000"/>
            <a:ext cx="2313432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Messy, Inconsistent Data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804672" y="2926080"/>
            <a:ext cx="2990088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raw dataset had inconsistent category labels and a large volume of missing values.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804672" y="3931920"/>
            <a:ext cx="2990088" cy="0"/>
          </a:xfrm>
          <a:prstGeom prst="line">
            <a:avLst/>
          </a:prstGeom>
          <a:noFill/>
          <a:ln w="12700">
            <a:solidFill>
              <a:srgbClr val="2C546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04672" y="4114800"/>
            <a:ext cx="457200" cy="457200"/>
          </a:xfrm>
          <a:prstGeom prst="ellipse">
            <a:avLst/>
          </a:prstGeom>
          <a:solidFill>
            <a:srgbClr val="4A93B8"/>
          </a:solidFill>
        </p:spPr>
      </p:sp>
      <p:pic>
        <p:nvPicPr>
          <p:cNvPr id="14" name="Image 2" descr="/home/claude/icons/FiCheck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" y="4174236"/>
            <a:ext cx="338328" cy="33832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4142232"/>
            <a:ext cx="240487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4A9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RESOLUTION 1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804672" y="4663440"/>
            <a:ext cx="2990088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Standardized labels and imputed missing values through a systematic cleaning pipeline.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233672" y="1783080"/>
            <a:ext cx="3502152" cy="4434840"/>
          </a:xfrm>
          <a:prstGeom prst="roundRect">
            <a:avLst>
              <a:gd name="adj" fmla="val 2089"/>
            </a:avLst>
          </a:prstGeom>
          <a:solidFill>
            <a:srgbClr val="153A48"/>
          </a:solidFill>
        </p:spPr>
      </p:sp>
      <p:sp>
        <p:nvSpPr>
          <p:cNvPr id="18" name="Shape 13"/>
          <p:cNvSpPr/>
          <p:nvPr/>
        </p:nvSpPr>
        <p:spPr>
          <a:xfrm>
            <a:off x="4489704" y="2039112"/>
            <a:ext cx="566928" cy="566928"/>
          </a:xfrm>
          <a:prstGeom prst="ellipse">
            <a:avLst/>
          </a:prstGeom>
          <a:solidFill>
            <a:srgbClr val="E8934A"/>
          </a:solidFill>
        </p:spPr>
      </p:sp>
      <p:pic>
        <p:nvPicPr>
          <p:cNvPr id="19" name="Image 3" descr="/home/claude/icons/FiAlert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3405" y="2112813"/>
            <a:ext cx="419527" cy="41952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193792" y="2057400"/>
            <a:ext cx="231343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9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 2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5193792" y="2286000"/>
            <a:ext cx="2313432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Interacting Dimensions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4489704" y="2926080"/>
            <a:ext cx="2990088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Attack type, actor type, motive, and geography interact simultaneously, obscuring trends.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489704" y="3931920"/>
            <a:ext cx="2990088" cy="0"/>
          </a:xfrm>
          <a:prstGeom prst="line">
            <a:avLst/>
          </a:prstGeom>
          <a:noFill/>
          <a:ln w="12700">
            <a:solidFill>
              <a:srgbClr val="2C5464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489704" y="4114800"/>
            <a:ext cx="457200" cy="457200"/>
          </a:xfrm>
          <a:prstGeom prst="ellipse">
            <a:avLst/>
          </a:prstGeom>
          <a:solidFill>
            <a:srgbClr val="4A93B8"/>
          </a:solidFill>
        </p:spPr>
      </p:sp>
      <p:pic>
        <p:nvPicPr>
          <p:cNvPr id="25" name="Image 4" descr="/home/claude/icons/FiCheck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9140" y="4174236"/>
            <a:ext cx="338328" cy="33832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102352" y="4142232"/>
            <a:ext cx="240487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4A9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RESOLUTION 2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4489704" y="4663440"/>
            <a:ext cx="2990088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Aggregated and related the data across dimensions in Power BI's model for instant cross-filtering.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7918704" y="1783080"/>
            <a:ext cx="3502152" cy="4434840"/>
          </a:xfrm>
          <a:prstGeom prst="roundRect">
            <a:avLst>
              <a:gd name="adj" fmla="val 2089"/>
            </a:avLst>
          </a:prstGeom>
          <a:solidFill>
            <a:srgbClr val="153A48"/>
          </a:solidFill>
        </p:spPr>
      </p:sp>
      <p:sp>
        <p:nvSpPr>
          <p:cNvPr id="29" name="Shape 22"/>
          <p:cNvSpPr/>
          <p:nvPr/>
        </p:nvSpPr>
        <p:spPr>
          <a:xfrm>
            <a:off x="8174736" y="2039112"/>
            <a:ext cx="566928" cy="566928"/>
          </a:xfrm>
          <a:prstGeom prst="ellipse">
            <a:avLst/>
          </a:prstGeom>
          <a:solidFill>
            <a:srgbClr val="E8934A"/>
          </a:solidFill>
        </p:spPr>
      </p:sp>
      <p:pic>
        <p:nvPicPr>
          <p:cNvPr id="30" name="Image 5" descr="/home/claude/icons/FiUser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8437" y="2112813"/>
            <a:ext cx="419527" cy="419527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878824" y="2057400"/>
            <a:ext cx="231343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89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 3</a:t>
            </a:r>
            <a:endParaRPr lang="en-US" sz="1050" dirty="0"/>
          </a:p>
        </p:txBody>
      </p:sp>
      <p:sp>
        <p:nvSpPr>
          <p:cNvPr id="32" name="Text 24"/>
          <p:cNvSpPr/>
          <p:nvPr/>
        </p:nvSpPr>
        <p:spPr>
          <a:xfrm>
            <a:off x="8878824" y="2286000"/>
            <a:ext cx="2313432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Unknown Attribution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174736" y="2926080"/>
            <a:ext cx="2990088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large share of incidents had no confirmed attacker country or identity.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8174736" y="3931920"/>
            <a:ext cx="2990088" cy="0"/>
          </a:xfrm>
          <a:prstGeom prst="line">
            <a:avLst/>
          </a:prstGeom>
          <a:noFill/>
          <a:ln w="12700">
            <a:solidFill>
              <a:srgbClr val="2C5464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8174736" y="4114800"/>
            <a:ext cx="457200" cy="457200"/>
          </a:xfrm>
          <a:prstGeom prst="ellipse">
            <a:avLst/>
          </a:prstGeom>
          <a:solidFill>
            <a:srgbClr val="4A93B8"/>
          </a:solidFill>
        </p:spPr>
      </p:sp>
      <p:pic>
        <p:nvPicPr>
          <p:cNvPr id="36" name="Image 6" descr="/home/claude/icons/FiCheck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4172" y="4174236"/>
            <a:ext cx="338328" cy="33832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8787384" y="4142232"/>
            <a:ext cx="2404872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4A9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RESOLUTION 3</a:t>
            </a:r>
            <a:endParaRPr lang="en-US" sz="1050" dirty="0"/>
          </a:p>
        </p:txBody>
      </p:sp>
      <p:sp>
        <p:nvSpPr>
          <p:cNvPr id="38" name="Text 29"/>
          <p:cNvSpPr/>
          <p:nvPr/>
        </p:nvSpPr>
        <p:spPr>
          <a:xfrm>
            <a:off x="8174736" y="4663440"/>
            <a:ext cx="2990088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dedicated filters and visuals to isolate and analyze 'Unknown' attribution on its own.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11457432" y="6355080"/>
            <a:ext cx="365760" cy="365760"/>
          </a:xfrm>
          <a:prstGeom prst="ellipse">
            <a:avLst/>
          </a:prstGeom>
          <a:solidFill>
            <a:srgbClr val="12333F"/>
          </a:solidFill>
          <a:ln w="15875">
            <a:solidFill>
              <a:srgbClr val="4A93B8"/>
            </a:solidFill>
            <a:prstDash val="solid"/>
          </a:ln>
        </p:spPr>
      </p:sp>
      <p:sp>
        <p:nvSpPr>
          <p:cNvPr id="40" name="Text 31"/>
          <p:cNvSpPr/>
          <p:nvPr/>
        </p:nvSpPr>
        <p:spPr>
          <a:xfrm>
            <a:off x="11457432" y="635508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200" dirty="0"/>
          </a:p>
        </p:txBody>
      </p:sp>
      <p:pic>
        <p:nvPicPr>
          <p:cNvPr id="9002" name="Header Infosys Logo"/>
          <p:cNvPicPr>
            <a:picLocks noChangeAspect="1"/>
          </p:cNvPicPr>
          <p:nvPr/>
        </p:nvPicPr>
        <p:blipFill>
          <a:blip r:embed="rId5"/>
          <a:srcRect t="1800" r="14605" b="21680"/>
          <a:stretch>
            <a:fillRect/>
          </a:stretch>
        </p:blipFill>
        <p:spPr>
          <a:xfrm>
            <a:off x="10363835" y="101600"/>
            <a:ext cx="1572260" cy="6477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619760" y="17081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b="1" kern="0" spc="15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VIRTUAL INTERNSHIP 7.0</a:t>
            </a:r>
            <a:endParaRPr lang="en-US" b="1" kern="0" spc="150" dirty="0">
              <a:solidFill>
                <a:srgbClr val="E8622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31520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E89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GROWTH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charset="0"/>
                <a:ea typeface="Calibri" panose="020F0502020204030204" pitchFamily="34" charset="-122"/>
                <a:cs typeface="Cambria" panose="02040503050406030204" charset="0"/>
              </a:rPr>
              <a:t>Learnings &amp; Skills Acquired</a:t>
            </a:r>
            <a:endParaRPr lang="en-US" sz="3000" dirty="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48640" y="1810512"/>
            <a:ext cx="5257800" cy="2880360"/>
          </a:xfrm>
          <a:prstGeom prst="roundRect">
            <a:avLst>
              <a:gd name="adj" fmla="val 2540"/>
            </a:avLst>
          </a:prstGeom>
          <a:solidFill>
            <a:srgbClr val="153A48"/>
          </a:solidFill>
        </p:spPr>
      </p:sp>
      <p:sp>
        <p:nvSpPr>
          <p:cNvPr id="7" name="Shape 4"/>
          <p:cNvSpPr/>
          <p:nvPr/>
        </p:nvSpPr>
        <p:spPr>
          <a:xfrm>
            <a:off x="822960" y="2084832"/>
            <a:ext cx="502920" cy="502920"/>
          </a:xfrm>
          <a:prstGeom prst="ellipse">
            <a:avLst/>
          </a:prstGeom>
          <a:solidFill>
            <a:srgbClr val="4A93B8"/>
          </a:solidFill>
        </p:spPr>
      </p:sp>
      <p:pic>
        <p:nvPicPr>
          <p:cNvPr id="8" name="Image 1" descr="/home/claude/icons/FiCod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340" y="2150212"/>
            <a:ext cx="372161" cy="37216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2103120"/>
            <a:ext cx="4023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Technical Skills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68680" y="2770632"/>
            <a:ext cx="461772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7800" indent="-1778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BI dashboard design and DAX-based aggregation</a:t>
            </a:r>
            <a:endParaRPr lang="en-US" sz="1250" dirty="0"/>
          </a:p>
          <a:p>
            <a:pPr marL="177800" indent="-1778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&amp; pandas for data cleaning and preprocessing</a:t>
            </a:r>
            <a:endParaRPr lang="en-US" sz="1250" dirty="0"/>
          </a:p>
          <a:p>
            <a:pPr marL="177800" indent="-1778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modelling and relationship design</a:t>
            </a:r>
            <a:endParaRPr lang="en-US" sz="1250" dirty="0"/>
          </a:p>
          <a:p>
            <a:pPr marL="177800" indent="-1778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Translating raw data into visual analytics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172200" y="1810512"/>
            <a:ext cx="5257800" cy="2880360"/>
          </a:xfrm>
          <a:prstGeom prst="roundRect">
            <a:avLst>
              <a:gd name="adj" fmla="val 2540"/>
            </a:avLst>
          </a:prstGeom>
          <a:solidFill>
            <a:srgbClr val="153A48"/>
          </a:solidFill>
        </p:spPr>
      </p:sp>
      <p:sp>
        <p:nvSpPr>
          <p:cNvPr id="12" name="Shape 8"/>
          <p:cNvSpPr/>
          <p:nvPr/>
        </p:nvSpPr>
        <p:spPr>
          <a:xfrm>
            <a:off x="6446520" y="2084832"/>
            <a:ext cx="502920" cy="502920"/>
          </a:xfrm>
          <a:prstGeom prst="ellipse">
            <a:avLst/>
          </a:prstGeom>
          <a:solidFill>
            <a:srgbClr val="E8934A"/>
          </a:solidFill>
        </p:spPr>
      </p:sp>
      <p:pic>
        <p:nvPicPr>
          <p:cNvPr id="13" name="Image 2" descr="/home/claude/icons/Fi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900" y="2150212"/>
            <a:ext cx="372161" cy="3721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86600" y="2103120"/>
            <a:ext cx="4023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Soft Skills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492240" y="2770632"/>
            <a:ext cx="461772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7800" indent="-1778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Analytical and structured problem-solving</a:t>
            </a:r>
            <a:endParaRPr lang="en-US" sz="1250" dirty="0"/>
          </a:p>
          <a:p>
            <a:pPr marL="177800" indent="-1778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Attention to detail with large, messy datasets</a:t>
            </a:r>
            <a:endParaRPr lang="en-US" sz="1250" dirty="0"/>
          </a:p>
          <a:p>
            <a:pPr marL="177800" indent="-1778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Communicating technical insights clearly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4965192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2333F"/>
          </a:solidFill>
          <a:ln w="12700">
            <a:solidFill>
              <a:srgbClr val="2C5464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68680" y="4965192"/>
            <a:ext cx="1033272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E89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Overall Learning:  </a:t>
            </a:r>
            <a:r>
              <a:rPr lang="en-US" sz="125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milestone gave end-to-end, hands-on experience turning a large, messy dataset into decision-ready visual intelligence — from data profiling through modelling to executive dashboard storytelling.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11457432" y="6355080"/>
            <a:ext cx="365760" cy="365760"/>
          </a:xfrm>
          <a:prstGeom prst="ellipse">
            <a:avLst/>
          </a:prstGeom>
          <a:solidFill>
            <a:srgbClr val="12333F"/>
          </a:solidFill>
          <a:ln w="15875">
            <a:solidFill>
              <a:srgbClr val="4A93B8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11457432" y="635508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200" dirty="0"/>
          </a:p>
        </p:txBody>
      </p:sp>
      <p:pic>
        <p:nvPicPr>
          <p:cNvPr id="9002" name="Header Infosys Logo"/>
          <p:cNvPicPr>
            <a:picLocks noChangeAspect="1"/>
          </p:cNvPicPr>
          <p:nvPr/>
        </p:nvPicPr>
        <p:blipFill>
          <a:blip r:embed="rId3"/>
          <a:srcRect t="1800" r="14605" b="21680"/>
          <a:stretch>
            <a:fillRect/>
          </a:stretch>
        </p:blipFill>
        <p:spPr>
          <a:xfrm>
            <a:off x="10363835" y="101600"/>
            <a:ext cx="1572260" cy="6477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548640" y="19875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b="1" kern="0" spc="15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VIRTUAL INTERNSHIP 7.0</a:t>
            </a:r>
            <a:endParaRPr lang="en-US" b="1" kern="0" spc="150" dirty="0">
              <a:solidFill>
                <a:srgbClr val="E8622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31520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E89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WHAT'S NEXT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charset="0"/>
                <a:ea typeface="Calibri" panose="020F0502020204030204" pitchFamily="34" charset="-122"/>
                <a:cs typeface="Cambria" panose="02040503050406030204" charset="0"/>
              </a:rPr>
              <a:t>Future Enhancements</a:t>
            </a:r>
            <a:endParaRPr lang="en-US" sz="3000" dirty="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48640" y="1764792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Enhancements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176272"/>
            <a:ext cx="5257800" cy="932688"/>
          </a:xfrm>
          <a:prstGeom prst="roundRect">
            <a:avLst>
              <a:gd name="adj" fmla="val 6863"/>
            </a:avLst>
          </a:prstGeom>
          <a:solidFill>
            <a:srgbClr val="153A48"/>
          </a:solidFill>
        </p:spPr>
      </p:sp>
      <p:sp>
        <p:nvSpPr>
          <p:cNvPr id="8" name="Shape 5"/>
          <p:cNvSpPr/>
          <p:nvPr/>
        </p:nvSpPr>
        <p:spPr>
          <a:xfrm>
            <a:off x="749808" y="2368296"/>
            <a:ext cx="548640" cy="548640"/>
          </a:xfrm>
          <a:prstGeom prst="ellipse">
            <a:avLst/>
          </a:prstGeom>
          <a:solidFill>
            <a:srgbClr val="4A93B8"/>
          </a:solidFill>
        </p:spPr>
      </p:sp>
      <p:pic>
        <p:nvPicPr>
          <p:cNvPr id="9" name="Image 1" descr="/home/claude/icons/FiZa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" y="2439619"/>
            <a:ext cx="405994" cy="40599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176272"/>
            <a:ext cx="4114800" cy="9326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real-time data refresh for live threat monitoring.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172200" y="2176272"/>
            <a:ext cx="5257800" cy="932688"/>
          </a:xfrm>
          <a:prstGeom prst="roundRect">
            <a:avLst>
              <a:gd name="adj" fmla="val 6863"/>
            </a:avLst>
          </a:prstGeom>
          <a:solidFill>
            <a:srgbClr val="153A48"/>
          </a:solidFill>
        </p:spPr>
      </p:sp>
      <p:sp>
        <p:nvSpPr>
          <p:cNvPr id="12" name="Shape 8"/>
          <p:cNvSpPr/>
          <p:nvPr/>
        </p:nvSpPr>
        <p:spPr>
          <a:xfrm>
            <a:off x="6373368" y="2368296"/>
            <a:ext cx="548640" cy="548640"/>
          </a:xfrm>
          <a:prstGeom prst="ellipse">
            <a:avLst/>
          </a:prstGeom>
          <a:solidFill>
            <a:srgbClr val="4A93B8"/>
          </a:solidFill>
        </p:spPr>
      </p:sp>
      <p:pic>
        <p:nvPicPr>
          <p:cNvPr id="13" name="Image 2" descr="/home/claude/icons/FiTrending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691" y="2439619"/>
            <a:ext cx="405994" cy="40599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86600" y="2176272"/>
            <a:ext cx="4114800" cy="9326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Incorporate predictive analytics to forecast attack trends.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48640" y="3291840"/>
            <a:ext cx="5257800" cy="932688"/>
          </a:xfrm>
          <a:prstGeom prst="roundRect">
            <a:avLst>
              <a:gd name="adj" fmla="val 6863"/>
            </a:avLst>
          </a:prstGeom>
          <a:solidFill>
            <a:srgbClr val="153A48"/>
          </a:solidFill>
        </p:spPr>
      </p:sp>
      <p:sp>
        <p:nvSpPr>
          <p:cNvPr id="16" name="Shape 11"/>
          <p:cNvSpPr/>
          <p:nvPr/>
        </p:nvSpPr>
        <p:spPr>
          <a:xfrm>
            <a:off x="749808" y="3483864"/>
            <a:ext cx="548640" cy="548640"/>
          </a:xfrm>
          <a:prstGeom prst="ellipse">
            <a:avLst/>
          </a:prstGeom>
          <a:solidFill>
            <a:srgbClr val="4A93B8"/>
          </a:solidFill>
        </p:spPr>
      </p:sp>
      <p:pic>
        <p:nvPicPr>
          <p:cNvPr id="17" name="Image 3" descr="/home/claude/icons/Fi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" y="3555187"/>
            <a:ext cx="405994" cy="40599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3291840"/>
            <a:ext cx="4114800" cy="9326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Expand the dataset with more recent incident records.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172200" y="3291840"/>
            <a:ext cx="5257800" cy="932688"/>
          </a:xfrm>
          <a:prstGeom prst="roundRect">
            <a:avLst>
              <a:gd name="adj" fmla="val 6863"/>
            </a:avLst>
          </a:prstGeom>
          <a:solidFill>
            <a:srgbClr val="153A48"/>
          </a:solidFill>
        </p:spPr>
      </p:sp>
      <p:sp>
        <p:nvSpPr>
          <p:cNvPr id="20" name="Shape 14"/>
          <p:cNvSpPr/>
          <p:nvPr/>
        </p:nvSpPr>
        <p:spPr>
          <a:xfrm>
            <a:off x="6373368" y="3483864"/>
            <a:ext cx="548640" cy="548640"/>
          </a:xfrm>
          <a:prstGeom prst="ellipse">
            <a:avLst/>
          </a:prstGeom>
          <a:solidFill>
            <a:srgbClr val="4A93B8"/>
          </a:solidFill>
        </p:spPr>
      </p:sp>
      <p:pic>
        <p:nvPicPr>
          <p:cNvPr id="21" name="Image 4" descr="/home/claude/icons/Fi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691" y="3555187"/>
            <a:ext cx="405994" cy="40599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086600" y="3291840"/>
            <a:ext cx="4114800" cy="9326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drill-through pages for deeper per-incident investigation.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548640" y="4636008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9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548640" y="5047488"/>
            <a:ext cx="3447288" cy="1051560"/>
          </a:xfrm>
          <a:prstGeom prst="roundRect">
            <a:avLst>
              <a:gd name="adj" fmla="val 6087"/>
            </a:avLst>
          </a:prstGeom>
          <a:solidFill>
            <a:srgbClr val="12333F"/>
          </a:solidFill>
          <a:ln w="12700">
            <a:solidFill>
              <a:srgbClr val="2C5464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731520" y="5047488"/>
            <a:ext cx="3081528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Hacking dominates attack volume — 3.4K of ~10.2K incidents.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4178808" y="5047488"/>
            <a:ext cx="3447288" cy="1051560"/>
          </a:xfrm>
          <a:prstGeom prst="roundRect">
            <a:avLst>
              <a:gd name="adj" fmla="val 6087"/>
            </a:avLst>
          </a:prstGeom>
          <a:solidFill>
            <a:srgbClr val="12333F"/>
          </a:solidFill>
          <a:ln w="12700">
            <a:solidFill>
              <a:srgbClr val="2C5464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4361688" y="5047488"/>
            <a:ext cx="3081528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Financial gain drives most motives — 3,951 incidents.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7808976" y="5047488"/>
            <a:ext cx="3447288" cy="1051560"/>
          </a:xfrm>
          <a:prstGeom prst="roundRect">
            <a:avLst>
              <a:gd name="adj" fmla="val 6087"/>
            </a:avLst>
          </a:prstGeom>
          <a:solidFill>
            <a:srgbClr val="12333F"/>
          </a:solidFill>
          <a:ln w="12700">
            <a:solidFill>
              <a:srgbClr val="2C5464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7991856" y="5047488"/>
            <a:ext cx="3081528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US is targeted far more than any other country — ~5K incidents.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11457432" y="6355080"/>
            <a:ext cx="365760" cy="365760"/>
          </a:xfrm>
          <a:prstGeom prst="ellipse">
            <a:avLst/>
          </a:prstGeom>
          <a:solidFill>
            <a:srgbClr val="12333F"/>
          </a:solidFill>
          <a:ln w="15875">
            <a:solidFill>
              <a:srgbClr val="4A93B8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11457432" y="635508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200" dirty="0"/>
          </a:p>
        </p:txBody>
      </p:sp>
      <p:pic>
        <p:nvPicPr>
          <p:cNvPr id="9002" name="Header Infosys Logo"/>
          <p:cNvPicPr>
            <a:picLocks noChangeAspect="1"/>
          </p:cNvPicPr>
          <p:nvPr/>
        </p:nvPicPr>
        <p:blipFill>
          <a:blip r:embed="rId5"/>
          <a:srcRect t="1800" r="14605" b="21680"/>
          <a:stretch>
            <a:fillRect/>
          </a:stretch>
        </p:blipFill>
        <p:spPr>
          <a:xfrm>
            <a:off x="10363835" y="101600"/>
            <a:ext cx="1572260" cy="6477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548640" y="23622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b="1" kern="0" spc="15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VIRTUAL INTERNSHIP 7.0</a:t>
            </a:r>
            <a:endParaRPr lang="en-US" b="1" kern="0" spc="150" dirty="0">
              <a:solidFill>
                <a:srgbClr val="E8622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31520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E89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WRAP UP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charset="0"/>
                <a:ea typeface="Calibri" panose="020F0502020204030204" pitchFamily="34" charset="-122"/>
                <a:cs typeface="Cambria" panose="02040503050406030204" charset="0"/>
              </a:rPr>
              <a:t>Conclusion</a:t>
            </a:r>
            <a:endParaRPr lang="en-US" sz="3000" dirty="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48640" y="1810512"/>
            <a:ext cx="108813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Cyber Threat Analytics Platform with Incident Visualization System </a:t>
            </a:r>
            <a:r>
              <a:rPr lang="en-US" sz="160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successfully transformed a cleaned cybersecurity incident dataset into interactive, decision-ready Power BI dashboards.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971800"/>
            <a:ext cx="3502152" cy="2651760"/>
          </a:xfrm>
          <a:prstGeom prst="roundRect">
            <a:avLst>
              <a:gd name="adj" fmla="val 2759"/>
            </a:avLst>
          </a:prstGeom>
          <a:solidFill>
            <a:srgbClr val="153A48"/>
          </a:solidFill>
        </p:spPr>
      </p:sp>
      <p:sp>
        <p:nvSpPr>
          <p:cNvPr id="8" name="Shape 5"/>
          <p:cNvSpPr/>
          <p:nvPr/>
        </p:nvSpPr>
        <p:spPr>
          <a:xfrm>
            <a:off x="804672" y="3227832"/>
            <a:ext cx="594360" cy="594360"/>
          </a:xfrm>
          <a:prstGeom prst="ellipse">
            <a:avLst/>
          </a:prstGeom>
          <a:solidFill>
            <a:srgbClr val="4A93B8"/>
          </a:solidFill>
        </p:spPr>
      </p:sp>
      <p:pic>
        <p:nvPicPr>
          <p:cNvPr id="9" name="Image 1" descr="/home/claude/icons/FiCod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939" y="3305099"/>
            <a:ext cx="439826" cy="43982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4672" y="3977640"/>
            <a:ext cx="299008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Learning / Technical Impact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04672" y="4663440"/>
            <a:ext cx="2990088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Deepened skills in data modelling, DAX, and dashboard design across a real-world scale dataset.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233672" y="2971800"/>
            <a:ext cx="3502152" cy="2651760"/>
          </a:xfrm>
          <a:prstGeom prst="roundRect">
            <a:avLst>
              <a:gd name="adj" fmla="val 2759"/>
            </a:avLst>
          </a:prstGeom>
          <a:solidFill>
            <a:srgbClr val="153A48"/>
          </a:solidFill>
        </p:spPr>
      </p:sp>
      <p:sp>
        <p:nvSpPr>
          <p:cNvPr id="13" name="Shape 9"/>
          <p:cNvSpPr/>
          <p:nvPr/>
        </p:nvSpPr>
        <p:spPr>
          <a:xfrm>
            <a:off x="4489704" y="3227832"/>
            <a:ext cx="594360" cy="594360"/>
          </a:xfrm>
          <a:prstGeom prst="ellipse">
            <a:avLst/>
          </a:prstGeom>
          <a:solidFill>
            <a:srgbClr val="4A93B8"/>
          </a:solidFill>
        </p:spPr>
      </p:sp>
      <p:pic>
        <p:nvPicPr>
          <p:cNvPr id="14" name="Image 2" descr="/home/claude/icons/Fi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971" y="3305099"/>
            <a:ext cx="439826" cy="43982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89704" y="3977640"/>
            <a:ext cx="299008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Industry / Practical Experience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489704" y="4663440"/>
            <a:ext cx="2990088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Simulated a real-world security analytics workflow, from raw records to stakeholder-ready visuals.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7918704" y="2971800"/>
            <a:ext cx="3502152" cy="2651760"/>
          </a:xfrm>
          <a:prstGeom prst="roundRect">
            <a:avLst>
              <a:gd name="adj" fmla="val 2759"/>
            </a:avLst>
          </a:prstGeom>
          <a:solidFill>
            <a:srgbClr val="153A48"/>
          </a:solidFill>
        </p:spPr>
      </p:sp>
      <p:sp>
        <p:nvSpPr>
          <p:cNvPr id="18" name="Shape 13"/>
          <p:cNvSpPr/>
          <p:nvPr/>
        </p:nvSpPr>
        <p:spPr>
          <a:xfrm>
            <a:off x="8174736" y="3227832"/>
            <a:ext cx="594360" cy="594360"/>
          </a:xfrm>
          <a:prstGeom prst="ellipse">
            <a:avLst/>
          </a:prstGeom>
          <a:solidFill>
            <a:srgbClr val="4A93B8"/>
          </a:solidFill>
        </p:spPr>
      </p:sp>
      <p:pic>
        <p:nvPicPr>
          <p:cNvPr id="19" name="Image 3" descr="/home/claude/icons/FiAw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2003" y="3305099"/>
            <a:ext cx="439826" cy="43982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174736" y="3977640"/>
            <a:ext cx="2990088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Overall Conclusion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8174736" y="4663440"/>
            <a:ext cx="2990088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Turned 10,228 numeric records into clear, actionable threat intelligence for decision-makers.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11457432" y="6355080"/>
            <a:ext cx="365760" cy="365760"/>
          </a:xfrm>
          <a:prstGeom prst="ellipse">
            <a:avLst/>
          </a:prstGeom>
          <a:solidFill>
            <a:srgbClr val="12333F"/>
          </a:solidFill>
          <a:ln w="15875">
            <a:solidFill>
              <a:srgbClr val="4A93B8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11457432" y="635508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200" dirty="0"/>
          </a:p>
        </p:txBody>
      </p:sp>
      <p:pic>
        <p:nvPicPr>
          <p:cNvPr id="9002" name="Header Infosys Logo"/>
          <p:cNvPicPr>
            <a:picLocks noChangeAspect="1"/>
          </p:cNvPicPr>
          <p:nvPr/>
        </p:nvPicPr>
        <p:blipFill>
          <a:blip r:embed="rId4"/>
          <a:srcRect t="1800" r="14605" b="21680"/>
          <a:stretch>
            <a:fillRect/>
          </a:stretch>
        </p:blipFill>
        <p:spPr>
          <a:xfrm>
            <a:off x="10363835" y="101600"/>
            <a:ext cx="1572260" cy="6477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609600" y="25590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b="1" kern="0" spc="15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VIRTUAL INTERNSHIP 7.0</a:t>
            </a:r>
            <a:endParaRPr lang="en-US" b="1" kern="0" spc="150" dirty="0">
              <a:solidFill>
                <a:srgbClr val="E8622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48640" y="731520"/>
            <a:ext cx="7315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E893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GRATITUDE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48640" y="1005840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charset="0"/>
                <a:ea typeface="Calibri" panose="020F0502020204030204" pitchFamily="34" charset="-122"/>
                <a:cs typeface="Cambria" panose="02040503050406030204" charset="0"/>
              </a:rPr>
              <a:t>Acknowledgements and References</a:t>
            </a:r>
            <a:endParaRPr lang="en-US" sz="3000" dirty="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48640" y="1764792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 would like to express my heartfelt gratitude to: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290445"/>
            <a:ext cx="5257800" cy="868680"/>
          </a:xfrm>
          <a:prstGeom prst="roundRect">
            <a:avLst>
              <a:gd name="adj" fmla="val 7368"/>
            </a:avLst>
          </a:prstGeom>
          <a:solidFill>
            <a:srgbClr val="153A48"/>
          </a:solidFill>
        </p:spPr>
      </p:sp>
      <p:sp>
        <p:nvSpPr>
          <p:cNvPr id="8" name="Shape 5"/>
          <p:cNvSpPr/>
          <p:nvPr/>
        </p:nvSpPr>
        <p:spPr>
          <a:xfrm>
            <a:off x="731520" y="2459736"/>
            <a:ext cx="502920" cy="502920"/>
          </a:xfrm>
          <a:prstGeom prst="ellipse">
            <a:avLst/>
          </a:prstGeom>
          <a:solidFill>
            <a:srgbClr val="E8934A"/>
          </a:solidFill>
        </p:spPr>
      </p:sp>
      <p:pic>
        <p:nvPicPr>
          <p:cNvPr id="9" name="Image 1" descr="/home/claude/icons/FiHe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900" y="2525116"/>
            <a:ext cx="372161" cy="3721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286000"/>
            <a:ext cx="420624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50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Infosys Springboard  Virtual Internship 7.0 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172200" y="2286000"/>
            <a:ext cx="5257800" cy="868680"/>
          </a:xfrm>
          <a:prstGeom prst="roundRect">
            <a:avLst>
              <a:gd name="adj" fmla="val 7368"/>
            </a:avLst>
          </a:prstGeom>
          <a:solidFill>
            <a:srgbClr val="153A48"/>
          </a:solidFill>
        </p:spPr>
      </p:sp>
      <p:sp>
        <p:nvSpPr>
          <p:cNvPr id="12" name="Shape 8"/>
          <p:cNvSpPr/>
          <p:nvPr/>
        </p:nvSpPr>
        <p:spPr>
          <a:xfrm>
            <a:off x="6355080" y="2459736"/>
            <a:ext cx="502920" cy="502920"/>
          </a:xfrm>
          <a:prstGeom prst="ellipse">
            <a:avLst/>
          </a:prstGeom>
          <a:solidFill>
            <a:srgbClr val="E8934A"/>
          </a:solidFill>
        </p:spPr>
      </p:sp>
      <p:pic>
        <p:nvPicPr>
          <p:cNvPr id="13" name="Image 2" descr="/home/claude/icons/Fi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0460" y="2525116"/>
            <a:ext cx="372161" cy="3721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40880" y="2286000"/>
            <a:ext cx="420624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50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 mentor, </a:t>
            </a:r>
            <a:r>
              <a:rPr lang="en-US" altLang="en-US" sz="15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Mrs. Nithyasree</a:t>
            </a:r>
            <a:r>
              <a:rPr lang="en-US" sz="150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, for continuous guidance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548640" y="3319272"/>
            <a:ext cx="5257800" cy="868680"/>
          </a:xfrm>
          <a:prstGeom prst="roundRect">
            <a:avLst>
              <a:gd name="adj" fmla="val 7368"/>
            </a:avLst>
          </a:prstGeom>
          <a:solidFill>
            <a:srgbClr val="153A48"/>
          </a:solidFill>
        </p:spPr>
      </p:sp>
      <p:sp>
        <p:nvSpPr>
          <p:cNvPr id="16" name="Shape 11"/>
          <p:cNvSpPr/>
          <p:nvPr/>
        </p:nvSpPr>
        <p:spPr>
          <a:xfrm>
            <a:off x="731520" y="3493008"/>
            <a:ext cx="502920" cy="502920"/>
          </a:xfrm>
          <a:prstGeom prst="ellipse">
            <a:avLst/>
          </a:prstGeom>
          <a:solidFill>
            <a:srgbClr val="E8934A"/>
          </a:solidFill>
        </p:spPr>
      </p:sp>
      <p:pic>
        <p:nvPicPr>
          <p:cNvPr id="17" name="Image 3" descr="/home/claude/icons/Fi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900" y="3558388"/>
            <a:ext cx="372161" cy="37216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3319272"/>
            <a:ext cx="420624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50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 teammates in Team D : </a:t>
            </a:r>
            <a:r>
              <a:rPr lang="en-US" altLang="en-US" sz="1500" b="1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Vennela Pathipaka, Subhashree Subhasmita, Tejasri Lakshmi </a:t>
            </a:r>
            <a:r>
              <a:rPr lang="en-US" altLang="en-US" sz="1500" b="1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Maddula </a:t>
            </a:r>
            <a:r>
              <a:rPr lang="en-US" altLang="en-US" sz="1500" b="1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,</a:t>
            </a:r>
            <a:r>
              <a:rPr lang="en-US" altLang="en-US" sz="150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50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their collaboration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6172200" y="3319272"/>
            <a:ext cx="5257800" cy="868680"/>
          </a:xfrm>
          <a:prstGeom prst="roundRect">
            <a:avLst>
              <a:gd name="adj" fmla="val 7368"/>
            </a:avLst>
          </a:prstGeom>
          <a:solidFill>
            <a:srgbClr val="153A48"/>
          </a:solidFill>
        </p:spPr>
      </p:sp>
      <p:sp>
        <p:nvSpPr>
          <p:cNvPr id="20" name="Shape 14"/>
          <p:cNvSpPr/>
          <p:nvPr/>
        </p:nvSpPr>
        <p:spPr>
          <a:xfrm>
            <a:off x="6355080" y="3493008"/>
            <a:ext cx="502920" cy="502920"/>
          </a:xfrm>
          <a:prstGeom prst="ellipse">
            <a:avLst/>
          </a:prstGeom>
          <a:solidFill>
            <a:srgbClr val="E8934A"/>
          </a:solidFill>
        </p:spPr>
      </p:sp>
      <p:pic>
        <p:nvPicPr>
          <p:cNvPr id="21" name="Image 4" descr="/home/claude/icons/FiHe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0460" y="3558388"/>
            <a:ext cx="372161" cy="37216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040880" y="3319272"/>
            <a:ext cx="420624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500" dirty="0">
                <a:solidFill>
                  <a:srgbClr val="EAF2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Everyone who supported this project along the way</a:t>
            </a:r>
            <a:endParaRPr lang="en-US" sz="1500" dirty="0"/>
          </a:p>
        </p:txBody>
      </p:sp>
      <p:sp>
        <p:nvSpPr>
          <p:cNvPr id="23" name="Shape 16"/>
          <p:cNvSpPr/>
          <p:nvPr/>
        </p:nvSpPr>
        <p:spPr>
          <a:xfrm>
            <a:off x="548640" y="4626864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12333F"/>
          </a:solidFill>
          <a:ln w="12700">
            <a:solidFill>
              <a:srgbClr val="2C5464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77240" y="4855464"/>
            <a:ext cx="457200" cy="457200"/>
          </a:xfrm>
          <a:prstGeom prst="ellipse">
            <a:avLst/>
          </a:prstGeom>
          <a:solidFill>
            <a:srgbClr val="4A93B8"/>
          </a:solidFill>
        </p:spPr>
      </p:sp>
      <p:pic>
        <p:nvPicPr>
          <p:cNvPr id="25" name="Image 5" descr="/home/claude/icons/FiBookO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" y="4914900"/>
            <a:ext cx="338328" cy="33832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371600" y="4828032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References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868680" y="5312664"/>
            <a:ext cx="102412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177800" indent="-177800">
              <a:lnSpc>
                <a:spcPts val="17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Cybersecurity incident dataset (result.csv / preprocessing_report.xlsx)</a:t>
            </a:r>
            <a:endParaRPr lang="en-US" sz="1300" dirty="0"/>
          </a:p>
          <a:p>
            <a:pPr marL="177800" indent="-177800">
              <a:lnSpc>
                <a:spcPts val="17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Microsoft Power BI documentation</a:t>
            </a:r>
            <a:endParaRPr lang="en-US" sz="1300" dirty="0"/>
          </a:p>
          <a:p>
            <a:pPr marL="177800" indent="-177800">
              <a:lnSpc>
                <a:spcPts val="17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AFC4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pandas documentation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11457432" y="6355080"/>
            <a:ext cx="365760" cy="365760"/>
          </a:xfrm>
          <a:prstGeom prst="ellipse">
            <a:avLst/>
          </a:prstGeom>
          <a:solidFill>
            <a:srgbClr val="12333F"/>
          </a:solidFill>
          <a:ln w="15875">
            <a:solidFill>
              <a:srgbClr val="4A93B8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11457432" y="635508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200" dirty="0"/>
          </a:p>
        </p:txBody>
      </p:sp>
      <p:pic>
        <p:nvPicPr>
          <p:cNvPr id="9002" name="Header Infosys Logo"/>
          <p:cNvPicPr>
            <a:picLocks noChangeAspect="1"/>
          </p:cNvPicPr>
          <p:nvPr/>
        </p:nvPicPr>
        <p:blipFill>
          <a:blip r:embed="rId4"/>
          <a:srcRect t="1800" r="14605" b="21680"/>
          <a:stretch>
            <a:fillRect/>
          </a:stretch>
        </p:blipFill>
        <p:spPr>
          <a:xfrm>
            <a:off x="10363835" y="101600"/>
            <a:ext cx="1572260" cy="6477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548640" y="24447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b="1" kern="0" spc="15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VIRTUAL INTERNSHIP 7.0</a:t>
            </a:r>
            <a:endParaRPr lang="en-US" b="1" kern="0" spc="150" dirty="0">
              <a:solidFill>
                <a:srgbClr val="E8622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31790" y="1554480"/>
            <a:ext cx="882650" cy="776605"/>
          </a:xfrm>
          <a:prstGeom prst="ellipse">
            <a:avLst/>
          </a:prstGeom>
          <a:solidFill>
            <a:srgbClr val="4A93B8"/>
          </a:solidFill>
        </p:spPr>
      </p:sp>
      <p:sp>
        <p:nvSpPr>
          <p:cNvPr id="8" name="Text 4"/>
          <p:cNvSpPr/>
          <p:nvPr/>
        </p:nvSpPr>
        <p:spPr>
          <a:xfrm>
            <a:off x="0" y="2743200"/>
            <a:ext cx="12188952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9" name="Shape 5"/>
          <p:cNvSpPr/>
          <p:nvPr/>
        </p:nvSpPr>
        <p:spPr>
          <a:xfrm>
            <a:off x="5632704" y="3886200"/>
            <a:ext cx="914400" cy="0"/>
          </a:xfrm>
          <a:prstGeom prst="line">
            <a:avLst/>
          </a:prstGeom>
          <a:noFill/>
          <a:ln w="38100">
            <a:solidFill>
              <a:srgbClr val="E8934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0" y="4114800"/>
            <a:ext cx="121889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11457432" y="6355080"/>
            <a:ext cx="365760" cy="365760"/>
          </a:xfrm>
          <a:prstGeom prst="ellipse">
            <a:avLst/>
          </a:prstGeom>
          <a:solidFill>
            <a:srgbClr val="12333F"/>
          </a:solidFill>
          <a:ln w="15875">
            <a:solidFill>
              <a:srgbClr val="4A93B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1457432" y="635508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200" dirty="0"/>
          </a:p>
        </p:txBody>
      </p:sp>
      <p:pic>
        <p:nvPicPr>
          <p:cNvPr id="9002" name="Header Infosys Logo"/>
          <p:cNvPicPr>
            <a:picLocks noChangeAspect="1"/>
          </p:cNvPicPr>
          <p:nvPr/>
        </p:nvPicPr>
        <p:blipFill>
          <a:blip r:embed="rId1"/>
          <a:srcRect t="1800" r="14605" b="21680"/>
          <a:stretch>
            <a:fillRect/>
          </a:stretch>
        </p:blipFill>
        <p:spPr>
          <a:xfrm>
            <a:off x="10363835" y="101600"/>
            <a:ext cx="1572260" cy="6477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450" y="1680210"/>
            <a:ext cx="525780" cy="52578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218440" y="16192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b="1" kern="0" spc="150" dirty="0">
                <a:solidFill>
                  <a:srgbClr val="E862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VIRTUAL INTERNSHIP 7.0</a:t>
            </a:r>
            <a:endParaRPr lang="en-US" b="1" kern="0" spc="150" dirty="0">
              <a:solidFill>
                <a:srgbClr val="E8622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6295</Words>
  <Application>WPS Presentation</Application>
  <PresentationFormat>On-screen Show (16:9)</PresentationFormat>
  <Paragraphs>326</Paragraphs>
  <Slides>12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KIIT0001</cp:lastModifiedBy>
  <cp:revision>4</cp:revision>
  <dcterms:created xsi:type="dcterms:W3CDTF">2026-08-16T12:40:00Z</dcterms:created>
  <dcterms:modified xsi:type="dcterms:W3CDTF">2026-08-17T19:14:36Z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A3AC93843BD84AA7B34B41AC79624E2D_13</vt:lpwstr>
  </property>
</Properties>
</file>